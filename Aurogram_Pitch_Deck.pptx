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"/>
          <p:cNvSpPr>
            <a:spLocks noGrp="1"/>
          </p:cNvSpPr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"/>
          <p:cNvSpPr>
            <a:spLocks noGrp="1"/>
          </p:cNvSpPr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5A3D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"/>
          <p:cNvSpPr>
            <a:spLocks noGrp="1"/>
          </p:cNvSpPr>
          <p:nvPr/>
        </p:nvSpPr>
        <p:spPr>
          <a:xfrm>
            <a:off x="594360" y="1645920"/>
            <a:ext cx="54864" cy="347472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"/>
          <p:cNvSpPr txBox="1">
            <a:spLocks noGrp="1"/>
          </p:cNvSpPr>
          <p:nvPr/>
        </p:nvSpPr>
        <p:spPr>
          <a:xfrm>
            <a:off x="822960" y="1554480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7200" b="1" i="0" dirty="0">
                <a:solidFill>
                  <a:srgbClr val="FFFFFF"/>
                </a:solidFill>
                <a:latin typeface="Segoe UI"/>
              </a:rPr>
              <a:t>AUROGRAM</a:t>
            </a:r>
          </a:p>
        </p:txBody>
      </p:sp>
      <p:sp>
        <p:nvSpPr>
          <p:cNvPr id="7" name="t"/>
          <p:cNvSpPr txBox="1">
            <a:spLocks noGrp="1"/>
          </p:cNvSpPr>
          <p:nvPr/>
        </p:nvSpPr>
        <p:spPr>
          <a:xfrm>
            <a:off x="822960" y="292608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2600" b="0" i="0" dirty="0">
                <a:solidFill>
                  <a:srgbClr val="C9A96E"/>
                </a:solidFill>
                <a:latin typeface="Segoe UI"/>
              </a:rPr>
              <a:t>The social app built around who you are cosmically.</a:t>
            </a:r>
          </a:p>
        </p:txBody>
      </p:sp>
      <p:sp>
        <p:nvSpPr>
          <p:cNvPr id="8" name="t"/>
          <p:cNvSpPr txBox="1">
            <a:spLocks noGrp="1"/>
          </p:cNvSpPr>
          <p:nvPr/>
        </p:nvSpPr>
        <p:spPr>
          <a:xfrm>
            <a:off x="822960" y="3794760"/>
            <a:ext cx="6583680" cy="109728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600" b="0" i="0" dirty="0">
                <a:solidFill>
                  <a:srgbClr val="4A5568"/>
                </a:solidFill>
                <a:latin typeface="Segoe UI"/>
              </a:rPr>
              <a:t>Community spaces · Vedic astrology · AI that knows your chart</a:t>
            </a:r>
          </a:p>
          <a:p>
            <a:pPr algn="l"/>
            <a:r>
              <a:rPr lang="en-US" sz="1600" b="0" i="0" dirty="0">
                <a:solidFill>
                  <a:srgbClr val="4A5568"/>
                </a:solidFill>
                <a:latin typeface="Segoe UI"/>
              </a:rPr>
              <a:t>Real-time video · Stories · Anonymous voice — one cross-platform app.</a:t>
            </a:r>
          </a:p>
        </p:txBody>
      </p:sp>
      <p:sp>
        <p:nvSpPr>
          <p:cNvPr id="9" name="t"/>
          <p:cNvSpPr txBox="1">
            <a:spLocks noGrp="1"/>
          </p:cNvSpPr>
          <p:nvPr/>
        </p:nvSpPr>
        <p:spPr>
          <a:xfrm>
            <a:off x="822960" y="50292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300" b="0" i="0" dirty="0">
                <a:solidFill>
                  <a:srgbClr val="5A3D34"/>
                </a:solidFill>
                <a:latin typeface="Segoe UI"/>
              </a:rPr>
              <a:t>iOS  ·  Android  ·  Web  ·  macOS  ·  Windows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"/>
          <p:cNvSpPr>
            <a:spLocks noGrp="1"/>
          </p:cNvSpPr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"/>
          <p:cNvSpPr>
            <a:spLocks noGrp="1"/>
          </p:cNvSpPr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5A3D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"/>
          <p:cNvSpPr txBox="1">
            <a:spLocks noGrp="1"/>
          </p:cNvSpPr>
          <p:nvPr/>
        </p:nvSpPr>
        <p:spPr>
          <a:xfrm>
            <a:off x="594360" y="3200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100" b="1" i="0" dirty="0">
                <a:solidFill>
                  <a:srgbClr val="C9A96E"/>
                </a:solidFill>
                <a:latin typeface="Segoe UI"/>
              </a:rPr>
              <a:t>THE OPPORTUNITY</a:t>
            </a:r>
          </a:p>
        </p:txBody>
      </p:sp>
      <p:sp>
        <p:nvSpPr>
          <p:cNvPr id="6" name="t"/>
          <p:cNvSpPr txBox="1">
            <a:spLocks noGrp="1"/>
          </p:cNvSpPr>
          <p:nvPr/>
        </p:nvSpPr>
        <p:spPr>
          <a:xfrm>
            <a:off x="594360" y="82296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3400" b="1" i="0" dirty="0">
                <a:solidFill>
                  <a:srgbClr val="FFFFFF"/>
                </a:solidFill>
                <a:latin typeface="Segoe UI"/>
              </a:rPr>
              <a:t>3.5 billion people follow astrology.</a:t>
            </a:r>
          </a:p>
          <a:p>
            <a:pPr algn="l"/>
            <a:r>
              <a:rPr lang="en-US" sz="3400" b="1" i="0" dirty="0">
                <a:solidFill>
                  <a:srgbClr val="C9A96E"/>
                </a:solidFill>
                <a:latin typeface="Segoe UI"/>
              </a:rPr>
              <a:t>No social platform takes them seriously.</a:t>
            </a:r>
          </a:p>
        </p:txBody>
      </p:sp>
      <p:sp>
        <p:nvSpPr>
          <p:cNvPr id="7" name="s"/>
          <p:cNvSpPr>
            <a:spLocks noGrp="1"/>
          </p:cNvSpPr>
          <p:nvPr/>
        </p:nvSpPr>
        <p:spPr>
          <a:xfrm>
            <a:off x="594360" y="1965960"/>
            <a:ext cx="7955279" cy="36576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"/>
          <p:cNvSpPr>
            <a:spLocks noGrp="1"/>
          </p:cNvSpPr>
          <p:nvPr/>
        </p:nvSpPr>
        <p:spPr>
          <a:xfrm>
            <a:off x="594360" y="2240280"/>
            <a:ext cx="2377440" cy="210312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"/>
          <p:cNvSpPr>
            <a:spLocks noGrp="1"/>
          </p:cNvSpPr>
          <p:nvPr/>
        </p:nvSpPr>
        <p:spPr>
          <a:xfrm>
            <a:off x="594360" y="2240280"/>
            <a:ext cx="2377440" cy="45720"/>
          </a:xfrm>
          <a:prstGeom prst="rect">
            <a:avLst/>
          </a:prstGeom>
          <a:solidFill>
            <a:srgbClr val="2A304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"/>
          <p:cNvSpPr txBox="1">
            <a:spLocks noGrp="1"/>
          </p:cNvSpPr>
          <p:nvPr/>
        </p:nvSpPr>
        <p:spPr>
          <a:xfrm>
            <a:off x="777240" y="23774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4A5568"/>
                </a:solidFill>
                <a:latin typeface="Segoe UI"/>
              </a:rPr>
              <a:t>Co-Star
Pattern</a:t>
            </a:r>
          </a:p>
        </p:txBody>
      </p:sp>
      <p:sp>
        <p:nvSpPr>
          <p:cNvPr id="11" name="t"/>
          <p:cNvSpPr txBox="1">
            <a:spLocks noGrp="1"/>
          </p:cNvSpPr>
          <p:nvPr/>
        </p:nvSpPr>
        <p:spPr>
          <a:xfrm>
            <a:off x="777240" y="292608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300" b="0" i="0" dirty="0">
                <a:solidFill>
                  <a:srgbClr val="2A3040"/>
                </a:solidFill>
                <a:latin typeface="Segoe UI"/>
              </a:rPr>
              <a:t>Astrology only.
No community.
No real-time AI.</a:t>
            </a:r>
          </a:p>
        </p:txBody>
      </p:sp>
      <p:sp>
        <p:nvSpPr>
          <p:cNvPr id="12" name="s"/>
          <p:cNvSpPr>
            <a:spLocks noGrp="1"/>
          </p:cNvSpPr>
          <p:nvPr/>
        </p:nvSpPr>
        <p:spPr>
          <a:xfrm>
            <a:off x="3246120" y="2240280"/>
            <a:ext cx="2377440" cy="210312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"/>
          <p:cNvSpPr>
            <a:spLocks noGrp="1"/>
          </p:cNvSpPr>
          <p:nvPr/>
        </p:nvSpPr>
        <p:spPr>
          <a:xfrm>
            <a:off x="3246120" y="2240280"/>
            <a:ext cx="2377440" cy="45720"/>
          </a:xfrm>
          <a:prstGeom prst="rect">
            <a:avLst/>
          </a:prstGeom>
          <a:solidFill>
            <a:srgbClr val="2A304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"/>
          <p:cNvSpPr txBox="1">
            <a:spLocks noGrp="1"/>
          </p:cNvSpPr>
          <p:nvPr/>
        </p:nvSpPr>
        <p:spPr>
          <a:xfrm>
            <a:off x="3429000" y="23774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4A5568"/>
                </a:solidFill>
                <a:latin typeface="Segoe UI"/>
              </a:rPr>
              <a:t>Discord
Reddit</a:t>
            </a:r>
          </a:p>
        </p:txBody>
      </p:sp>
      <p:sp>
        <p:nvSpPr>
          <p:cNvPr id="15" name="t"/>
          <p:cNvSpPr txBox="1">
            <a:spLocks noGrp="1"/>
          </p:cNvSpPr>
          <p:nvPr/>
        </p:nvSpPr>
        <p:spPr>
          <a:xfrm>
            <a:off x="3429000" y="292608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300" b="0" i="0" dirty="0">
                <a:solidFill>
                  <a:srgbClr val="2A3040"/>
                </a:solidFill>
                <a:latin typeface="Segoe UI"/>
              </a:rPr>
              <a:t>Community only.
No cosmic layer.
No identity depth.</a:t>
            </a:r>
          </a:p>
        </p:txBody>
      </p:sp>
      <p:sp>
        <p:nvSpPr>
          <p:cNvPr id="16" name="s"/>
          <p:cNvSpPr>
            <a:spLocks noGrp="1"/>
          </p:cNvSpPr>
          <p:nvPr/>
        </p:nvSpPr>
        <p:spPr>
          <a:xfrm>
            <a:off x="5897880" y="2240280"/>
            <a:ext cx="2377440" cy="210312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s"/>
          <p:cNvSpPr>
            <a:spLocks noGrp="1"/>
          </p:cNvSpPr>
          <p:nvPr/>
        </p:nvSpPr>
        <p:spPr>
          <a:xfrm>
            <a:off x="5897880" y="2240280"/>
            <a:ext cx="2377440" cy="45720"/>
          </a:xfrm>
          <a:prstGeom prst="rect">
            <a:avLst/>
          </a:prstGeom>
          <a:solidFill>
            <a:srgbClr val="2A304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"/>
          <p:cNvSpPr txBox="1">
            <a:spLocks noGrp="1"/>
          </p:cNvSpPr>
          <p:nvPr/>
        </p:nvSpPr>
        <p:spPr>
          <a:xfrm>
            <a:off x="6080760" y="23774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4A5568"/>
                </a:solidFill>
                <a:latin typeface="Segoe UI"/>
              </a:rPr>
              <a:t>Instagram
TikTok</a:t>
            </a:r>
          </a:p>
        </p:txBody>
      </p:sp>
      <p:sp>
        <p:nvSpPr>
          <p:cNvPr id="19" name="t"/>
          <p:cNvSpPr txBox="1">
            <a:spLocks noGrp="1"/>
          </p:cNvSpPr>
          <p:nvPr/>
        </p:nvSpPr>
        <p:spPr>
          <a:xfrm>
            <a:off x="6080760" y="292608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300" b="0" i="0" dirty="0">
                <a:solidFill>
                  <a:srgbClr val="2A3040"/>
                </a:solidFill>
                <a:latin typeface="Segoe UI"/>
              </a:rPr>
              <a:t>Video only.
Algorithmic.
No meaning.</a:t>
            </a:r>
          </a:p>
        </p:txBody>
      </p:sp>
      <p:sp>
        <p:nvSpPr>
          <p:cNvPr id="20" name="s"/>
          <p:cNvSpPr>
            <a:spLocks noGrp="1"/>
          </p:cNvSpPr>
          <p:nvPr/>
        </p:nvSpPr>
        <p:spPr>
          <a:xfrm>
            <a:off x="594360" y="4572000"/>
            <a:ext cx="7955279" cy="118872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"/>
          <p:cNvSpPr>
            <a:spLocks noGrp="1"/>
          </p:cNvSpPr>
          <p:nvPr/>
        </p:nvSpPr>
        <p:spPr>
          <a:xfrm>
            <a:off x="594360" y="4572000"/>
            <a:ext cx="64008" cy="118872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"/>
          <p:cNvSpPr txBox="1">
            <a:spLocks noGrp="1"/>
          </p:cNvSpPr>
          <p:nvPr/>
        </p:nvSpPr>
        <p:spPr>
          <a:xfrm>
            <a:off x="822960" y="4617720"/>
            <a:ext cx="7498079" cy="1097280"/>
          </a:xfrm>
          <a:prstGeom prst="rect">
            <a:avLst/>
          </a:prstGeom>
          <a:noFill/>
          <a:ln>
            <a:noFill/>
          </a:ln>
        </p:spPr>
        <p:txBody>
          <a:bodyPr wrap="sq" anchor="ctr">
            <a:spAutoFit/>
          </a:bodyPr>
          <a:lstStyle/>
          <a:p>
            <a:pPr algn="l"/>
            <a:r>
              <a:rPr lang="en-US" sz="1600" b="0" i="0" dirty="0">
                <a:solidFill>
                  <a:srgbClr val="FFFFFF"/>
                </a:solidFill>
                <a:latin typeface="Segoe UI"/>
              </a:rPr>
              <a:t>Aurogram is the first app that gives you all three —</a:t>
            </a:r>
          </a:p>
          <a:p>
            <a:pPr algn="l"/>
            <a:r>
              <a:rPr lang="en-US" sz="1600" b="1" i="0" dirty="0">
                <a:solidFill>
                  <a:srgbClr val="C9A96E"/>
                </a:solidFill>
                <a:latin typeface="Segoe UI"/>
              </a:rPr>
              <a:t>social identity + cosmic self + real-time community.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"/>
          <p:cNvSpPr>
            <a:spLocks noGrp="1"/>
          </p:cNvSpPr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"/>
          <p:cNvSpPr>
            <a:spLocks noGrp="1"/>
          </p:cNvSpPr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5A3D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"/>
          <p:cNvSpPr txBox="1">
            <a:spLocks noGrp="1"/>
          </p:cNvSpPr>
          <p:nvPr/>
        </p:nvSpPr>
        <p:spPr>
          <a:xfrm>
            <a:off x="594360" y="3200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100" b="1" i="0" dirty="0">
                <a:solidFill>
                  <a:srgbClr val="C9A96E"/>
                </a:solidFill>
                <a:latin typeface="Segoe UI"/>
              </a:rPr>
              <a:t>WHAT'S BUILT TODAY</a:t>
            </a:r>
          </a:p>
        </p:txBody>
      </p:sp>
      <p:sp>
        <p:nvSpPr>
          <p:cNvPr id="6" name="t"/>
          <p:cNvSpPr txBox="1">
            <a:spLocks noGrp="1"/>
          </p:cNvSpPr>
          <p:nvPr/>
        </p:nvSpPr>
        <p:spPr>
          <a:xfrm>
            <a:off x="594360" y="82296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3000" b="1" i="0" dirty="0">
                <a:solidFill>
                  <a:srgbClr val="FFFFFF"/>
                </a:solidFill>
                <a:latin typeface="Segoe UI"/>
              </a:rPr>
              <a:t>Not a prototype. A full-stack, cross-platform social app.</a:t>
            </a:r>
          </a:p>
        </p:txBody>
      </p:sp>
      <p:sp>
        <p:nvSpPr>
          <p:cNvPr id="7" name="s"/>
          <p:cNvSpPr>
            <a:spLocks noGrp="1"/>
          </p:cNvSpPr>
          <p:nvPr/>
        </p:nvSpPr>
        <p:spPr>
          <a:xfrm>
            <a:off x="594360" y="1691640"/>
            <a:ext cx="7955279" cy="36576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"/>
          <p:cNvSpPr>
            <a:spLocks noGrp="1"/>
          </p:cNvSpPr>
          <p:nvPr/>
        </p:nvSpPr>
        <p:spPr>
          <a:xfrm>
            <a:off x="594360" y="1920240"/>
            <a:ext cx="1783080" cy="155448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"/>
          <p:cNvSpPr>
            <a:spLocks noGrp="1"/>
          </p:cNvSpPr>
          <p:nvPr/>
        </p:nvSpPr>
        <p:spPr>
          <a:xfrm>
            <a:off x="594360" y="1920240"/>
            <a:ext cx="178308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"/>
          <p:cNvSpPr txBox="1">
            <a:spLocks noGrp="1"/>
          </p:cNvSpPr>
          <p:nvPr/>
        </p:nvSpPr>
        <p:spPr>
          <a:xfrm>
            <a:off x="731520" y="2029968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3400" b="1" i="0" dirty="0">
                <a:solidFill>
                  <a:srgbClr val="C9A96E"/>
                </a:solidFill>
                <a:latin typeface="Segoe UI"/>
              </a:rPr>
              <a:t>5</a:t>
            </a:r>
          </a:p>
        </p:txBody>
      </p:sp>
      <p:sp>
        <p:nvSpPr>
          <p:cNvPr id="11" name="t"/>
          <p:cNvSpPr txBox="1">
            <a:spLocks noGrp="1"/>
          </p:cNvSpPr>
          <p:nvPr/>
        </p:nvSpPr>
        <p:spPr>
          <a:xfrm>
            <a:off x="731520" y="2743200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100" b="0" i="0" dirty="0">
                <a:solidFill>
                  <a:srgbClr val="4A5568"/>
                </a:solidFill>
                <a:latin typeface="Segoe UI"/>
              </a:rPr>
              <a:t>platforms
shipped</a:t>
            </a:r>
          </a:p>
        </p:txBody>
      </p:sp>
      <p:sp>
        <p:nvSpPr>
          <p:cNvPr id="12" name="s"/>
          <p:cNvSpPr>
            <a:spLocks noGrp="1"/>
          </p:cNvSpPr>
          <p:nvPr/>
        </p:nvSpPr>
        <p:spPr>
          <a:xfrm>
            <a:off x="2606040" y="1920240"/>
            <a:ext cx="1783080" cy="155448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"/>
          <p:cNvSpPr>
            <a:spLocks noGrp="1"/>
          </p:cNvSpPr>
          <p:nvPr/>
        </p:nvSpPr>
        <p:spPr>
          <a:xfrm>
            <a:off x="2606040" y="1920240"/>
            <a:ext cx="1783080" cy="54864"/>
          </a:xfrm>
          <a:prstGeom prst="rect">
            <a:avLst/>
          </a:prstGeom>
          <a:solidFill>
            <a:srgbClr val="4A7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"/>
          <p:cNvSpPr txBox="1">
            <a:spLocks noGrp="1"/>
          </p:cNvSpPr>
          <p:nvPr/>
        </p:nvSpPr>
        <p:spPr>
          <a:xfrm>
            <a:off x="2743200" y="2029968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3400" b="1" i="0" dirty="0">
                <a:solidFill>
                  <a:srgbClr val="4A7FA5"/>
                </a:solidFill>
                <a:latin typeface="Segoe UI"/>
              </a:rPr>
              <a:t>22</a:t>
            </a:r>
          </a:p>
        </p:txBody>
      </p:sp>
      <p:sp>
        <p:nvSpPr>
          <p:cNvPr id="15" name="t"/>
          <p:cNvSpPr txBox="1">
            <a:spLocks noGrp="1"/>
          </p:cNvSpPr>
          <p:nvPr/>
        </p:nvSpPr>
        <p:spPr>
          <a:xfrm>
            <a:off x="2743200" y="2743200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100" b="0" i="0" dirty="0">
                <a:solidFill>
                  <a:srgbClr val="4A5568"/>
                </a:solidFill>
                <a:latin typeface="Segoe UI"/>
              </a:rPr>
              <a:t>cloud functions
running live</a:t>
            </a:r>
          </a:p>
        </p:txBody>
      </p:sp>
      <p:sp>
        <p:nvSpPr>
          <p:cNvPr id="16" name="s"/>
          <p:cNvSpPr>
            <a:spLocks noGrp="1"/>
          </p:cNvSpPr>
          <p:nvPr/>
        </p:nvSpPr>
        <p:spPr>
          <a:xfrm>
            <a:off x="4617720" y="1920240"/>
            <a:ext cx="1783080" cy="155448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s"/>
          <p:cNvSpPr>
            <a:spLocks noGrp="1"/>
          </p:cNvSpPr>
          <p:nvPr/>
        </p:nvSpPr>
        <p:spPr>
          <a:xfrm>
            <a:off x="4617720" y="1920240"/>
            <a:ext cx="1783080" cy="54864"/>
          </a:xfrm>
          <a:prstGeom prst="rect">
            <a:avLst/>
          </a:prstGeom>
          <a:solidFill>
            <a:srgbClr val="4E9A6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"/>
          <p:cNvSpPr txBox="1">
            <a:spLocks noGrp="1"/>
          </p:cNvSpPr>
          <p:nvPr/>
        </p:nvSpPr>
        <p:spPr>
          <a:xfrm>
            <a:off x="4754880" y="2029968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3400" b="1" i="0" dirty="0">
                <a:solidFill>
                  <a:srgbClr val="4E9A6F"/>
                </a:solidFill>
                <a:latin typeface="Segoe UI"/>
              </a:rPr>
              <a:t>8 / 8</a:t>
            </a:r>
          </a:p>
        </p:txBody>
      </p:sp>
      <p:sp>
        <p:nvSpPr>
          <p:cNvPr id="19" name="t"/>
          <p:cNvSpPr txBox="1">
            <a:spLocks noGrp="1"/>
          </p:cNvSpPr>
          <p:nvPr/>
        </p:nvSpPr>
        <p:spPr>
          <a:xfrm>
            <a:off x="4754880" y="2743200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100" b="0" i="0" dirty="0">
                <a:solidFill>
                  <a:srgbClr val="4A5568"/>
                </a:solidFill>
                <a:latin typeface="Segoe UI"/>
              </a:rPr>
              <a:t>Vedic signal
types live</a:t>
            </a:r>
          </a:p>
        </p:txBody>
      </p:sp>
      <p:sp>
        <p:nvSpPr>
          <p:cNvPr id="20" name="s"/>
          <p:cNvSpPr>
            <a:spLocks noGrp="1"/>
          </p:cNvSpPr>
          <p:nvPr/>
        </p:nvSpPr>
        <p:spPr>
          <a:xfrm>
            <a:off x="6629400" y="1920240"/>
            <a:ext cx="1783080" cy="155448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"/>
          <p:cNvSpPr>
            <a:spLocks noGrp="1"/>
          </p:cNvSpPr>
          <p:nvPr/>
        </p:nvSpPr>
        <p:spPr>
          <a:xfrm>
            <a:off x="6629400" y="1920240"/>
            <a:ext cx="1783080" cy="54864"/>
          </a:xfrm>
          <a:prstGeom prst="rect">
            <a:avLst/>
          </a:prstGeom>
          <a:solidFill>
            <a:srgbClr val="5A3D3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"/>
          <p:cNvSpPr txBox="1">
            <a:spLocks noGrp="1"/>
          </p:cNvSpPr>
          <p:nvPr/>
        </p:nvSpPr>
        <p:spPr>
          <a:xfrm>
            <a:off x="6766560" y="2029968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3400" b="1" i="0" dirty="0">
                <a:solidFill>
                  <a:srgbClr val="5A3D34"/>
                </a:solidFill>
                <a:latin typeface="Segoe UI"/>
              </a:rPr>
              <a:t>∞</a:t>
            </a:r>
          </a:p>
        </p:txBody>
      </p:sp>
      <p:sp>
        <p:nvSpPr>
          <p:cNvPr id="23" name="t"/>
          <p:cNvSpPr txBox="1">
            <a:spLocks noGrp="1"/>
          </p:cNvSpPr>
          <p:nvPr/>
        </p:nvSpPr>
        <p:spPr>
          <a:xfrm>
            <a:off x="6766560" y="2743200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100" b="0" i="0" dirty="0">
                <a:solidFill>
                  <a:srgbClr val="4A5568"/>
                </a:solidFill>
                <a:latin typeface="Segoe UI"/>
              </a:rPr>
              <a:t>Gemini AI
context</a:t>
            </a:r>
          </a:p>
        </p:txBody>
      </p:sp>
      <p:sp>
        <p:nvSpPr>
          <p:cNvPr id="24" name="t"/>
          <p:cNvSpPr txBox="1">
            <a:spLocks noGrp="1"/>
          </p:cNvSpPr>
          <p:nvPr/>
        </p:nvSpPr>
        <p:spPr>
          <a:xfrm>
            <a:off x="594360" y="36576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300" b="1" i="0" dirty="0">
                <a:solidFill>
                  <a:srgbClr val="C9A96E"/>
                </a:solidFill>
                <a:latin typeface="Segoe UI"/>
              </a:rPr>
              <a:t>✓  </a:t>
            </a:r>
            <a:r>
              <a:rPr lang="en-US" sz="1300" b="0" i="0" dirty="0">
                <a:solidFill>
                  <a:srgbClr val="FFFFFF"/>
                </a:solidFill>
                <a:latin typeface="Segoe UI"/>
              </a:rPr>
              <a:t>Feed, Stories &amp; Rich Media</a:t>
            </a:r>
          </a:p>
        </p:txBody>
      </p:sp>
      <p:sp>
        <p:nvSpPr>
          <p:cNvPr id="25" name="t"/>
          <p:cNvSpPr txBox="1">
            <a:spLocks noGrp="1"/>
          </p:cNvSpPr>
          <p:nvPr/>
        </p:nvSpPr>
        <p:spPr>
          <a:xfrm>
            <a:off x="594360" y="42519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300" b="1" i="0" dirty="0">
                <a:solidFill>
                  <a:srgbClr val="C9A96E"/>
                </a:solidFill>
                <a:latin typeface="Segoe UI"/>
              </a:rPr>
              <a:t>✓  </a:t>
            </a:r>
            <a:r>
              <a:rPr lang="en-US" sz="1300" b="0" i="0" dirty="0">
                <a:solidFill>
                  <a:srgbClr val="FFFFFF"/>
                </a:solidFill>
                <a:latin typeface="Segoe UI"/>
              </a:rPr>
              <a:t>Spaces — moderated community hubs</a:t>
            </a:r>
          </a:p>
        </p:txBody>
      </p:sp>
      <p:sp>
        <p:nvSpPr>
          <p:cNvPr id="26" name="t"/>
          <p:cNvSpPr txBox="1">
            <a:spLocks noGrp="1"/>
          </p:cNvSpPr>
          <p:nvPr/>
        </p:nvSpPr>
        <p:spPr>
          <a:xfrm>
            <a:off x="594360" y="48463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300" b="1" i="0" dirty="0">
                <a:solidFill>
                  <a:srgbClr val="C9A96E"/>
                </a:solidFill>
                <a:latin typeface="Segoe UI"/>
              </a:rPr>
              <a:t>✓  </a:t>
            </a:r>
            <a:r>
              <a:rPr lang="en-US" sz="1300" b="0" i="0" dirty="0">
                <a:solidFill>
                  <a:srgbClr val="FFFFFF"/>
                </a:solidFill>
                <a:latin typeface="Segoe UI"/>
              </a:rPr>
              <a:t>Anonymous confessions layer</a:t>
            </a:r>
          </a:p>
        </p:txBody>
      </p:sp>
      <p:sp>
        <p:nvSpPr>
          <p:cNvPr id="27" name="t"/>
          <p:cNvSpPr txBox="1">
            <a:spLocks noGrp="1"/>
          </p:cNvSpPr>
          <p:nvPr/>
        </p:nvSpPr>
        <p:spPr>
          <a:xfrm>
            <a:off x="4434840" y="36576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300" b="1" i="0" dirty="0">
                <a:solidFill>
                  <a:srgbClr val="C9A96E"/>
                </a:solidFill>
                <a:latin typeface="Segoe UI"/>
              </a:rPr>
              <a:t>✓  </a:t>
            </a:r>
            <a:r>
              <a:rPr lang="en-US" sz="1300" b="0" i="0" dirty="0">
                <a:solidFill>
                  <a:srgbClr val="FFFFFF"/>
                </a:solidFill>
                <a:latin typeface="Segoe UI"/>
              </a:rPr>
              <a:t>Live video &amp; voice calls (Agora)</a:t>
            </a:r>
          </a:p>
        </p:txBody>
      </p:sp>
      <p:sp>
        <p:nvSpPr>
          <p:cNvPr id="28" name="t"/>
          <p:cNvSpPr txBox="1">
            <a:spLocks noGrp="1"/>
          </p:cNvSpPr>
          <p:nvPr/>
        </p:nvSpPr>
        <p:spPr>
          <a:xfrm>
            <a:off x="4434840" y="42519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300" b="1" i="0" dirty="0">
                <a:solidFill>
                  <a:srgbClr val="C9A96E"/>
                </a:solidFill>
                <a:latin typeface="Segoe UI"/>
              </a:rPr>
              <a:t>✓  </a:t>
            </a:r>
            <a:r>
              <a:rPr lang="en-US" sz="1300" b="0" i="0" dirty="0">
                <a:solidFill>
                  <a:srgbClr val="FFFFFF"/>
                </a:solidFill>
                <a:latin typeface="Segoe UI"/>
              </a:rPr>
              <a:t>HolyCow AI — chart-aware Gemini bot</a:t>
            </a:r>
          </a:p>
        </p:txBody>
      </p:sp>
      <p:sp>
        <p:nvSpPr>
          <p:cNvPr id="29" name="t"/>
          <p:cNvSpPr txBox="1">
            <a:spLocks noGrp="1"/>
          </p:cNvSpPr>
          <p:nvPr/>
        </p:nvSpPr>
        <p:spPr>
          <a:xfrm>
            <a:off x="4434840" y="48463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300" b="1" i="0" dirty="0">
                <a:solidFill>
                  <a:srgbClr val="C9A96E"/>
                </a:solidFill>
                <a:latin typeface="Segoe UI"/>
              </a:rPr>
              <a:t>✓  </a:t>
            </a:r>
            <a:r>
              <a:rPr lang="en-US" sz="1300" b="0" i="0" dirty="0">
                <a:solidFill>
                  <a:srgbClr val="FFFFFF"/>
                </a:solidFill>
                <a:latin typeface="Segoe UI"/>
              </a:rPr>
              <a:t>Daily Vedic astrology pipeline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"/>
          <p:cNvSpPr>
            <a:spLocks noGrp="1"/>
          </p:cNvSpPr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"/>
          <p:cNvSpPr>
            <a:spLocks noGrp="1"/>
          </p:cNvSpPr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5A3D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"/>
          <p:cNvSpPr txBox="1">
            <a:spLocks noGrp="1"/>
          </p:cNvSpPr>
          <p:nvPr/>
        </p:nvSpPr>
        <p:spPr>
          <a:xfrm>
            <a:off x="594360" y="3200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100" b="1" i="0" dirty="0">
                <a:solidFill>
                  <a:srgbClr val="C9A96E"/>
                </a:solidFill>
                <a:latin typeface="Segoe UI"/>
              </a:rPr>
              <a:t>THE VISION</a:t>
            </a:r>
          </a:p>
        </p:txBody>
      </p:sp>
      <p:sp>
        <p:nvSpPr>
          <p:cNvPr id="6" name="t"/>
          <p:cNvSpPr txBox="1">
            <a:spLocks noGrp="1"/>
          </p:cNvSpPr>
          <p:nvPr/>
        </p:nvSpPr>
        <p:spPr>
          <a:xfrm>
            <a:off x="594360" y="82296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3000" b="1" i="0" dirty="0">
                <a:solidFill>
                  <a:srgbClr val="FFFFFF"/>
                </a:solidFill>
                <a:latin typeface="Segoe UI"/>
              </a:rPr>
              <a:t>Astrology is the next</a:t>
            </a:r>
          </a:p>
          <a:p>
            <a:pPr algn="l"/>
            <a:r>
              <a:rPr lang="en-US" sz="3000" b="1" i="0" dirty="0">
                <a:solidFill>
                  <a:srgbClr val="C9A96E"/>
                </a:solidFill>
                <a:latin typeface="Segoe UI"/>
              </a:rPr>
              <a:t>personality graph.</a:t>
            </a:r>
          </a:p>
        </p:txBody>
      </p:sp>
      <p:sp>
        <p:nvSpPr>
          <p:cNvPr id="7" name="t"/>
          <p:cNvSpPr txBox="1">
            <a:spLocks noGrp="1"/>
          </p:cNvSpPr>
          <p:nvPr/>
        </p:nvSpPr>
        <p:spPr>
          <a:xfrm>
            <a:off x="594360" y="2286000"/>
            <a:ext cx="4572000" cy="228600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500" b="0" i="0" dirty="0">
                <a:solidFill>
                  <a:srgbClr val="4A5568"/>
                </a:solidFill>
                <a:latin typeface="Segoe UI"/>
              </a:rPr>
              <a:t>Myers-Briggs built a category. Enneagram built one. Vedic astrology</a:t>
            </a:r>
          </a:p>
          <a:p/>
          <a:p>
            <a:pPr algn="l"/>
            <a:r>
              <a:rPr lang="en-US" sz="1500" b="0" i="0" dirty="0">
                <a:solidFill>
                  <a:srgbClr val="4A5568"/>
                </a:solidFill>
                <a:latin typeface="Segoe UI"/>
              </a:rPr>
              <a:t>is 5,000 years older, mathematically richer, and still waiting for</a:t>
            </a:r>
          </a:p>
          <a:p/>
          <a:p>
            <a:pPr algn="l"/>
            <a:r>
              <a:rPr lang="en-US" sz="1500" b="1" i="0" dirty="0">
                <a:solidFill>
                  <a:srgbClr val="FFFFFF"/>
                </a:solidFill>
                <a:latin typeface="Segoe UI"/>
              </a:rPr>
              <a:t>its social layer. Aurogram is that layer.</a:t>
            </a:r>
          </a:p>
        </p:txBody>
      </p:sp>
      <p:sp>
        <p:nvSpPr>
          <p:cNvPr id="8" name="t"/>
          <p:cNvSpPr txBox="1">
            <a:spLocks noGrp="1"/>
          </p:cNvSpPr>
          <p:nvPr/>
        </p:nvSpPr>
        <p:spPr>
          <a:xfrm>
            <a:off x="594360" y="45720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300" b="0" i="1" dirty="0">
                <a:solidFill>
                  <a:srgbClr val="4A5568"/>
                </a:solidFill>
                <a:latin typeface="Segoe UI"/>
              </a:rPr>
              <a:t>$14.2B astrology market · 4.9B social media users · zero overlap today.</a:t>
            </a:r>
          </a:p>
        </p:txBody>
      </p:sp>
      <p:sp>
        <p:nvSpPr>
          <p:cNvPr id="9" name="s"/>
          <p:cNvSpPr>
            <a:spLocks noGrp="1"/>
          </p:cNvSpPr>
          <p:nvPr/>
        </p:nvSpPr>
        <p:spPr>
          <a:xfrm>
            <a:off x="5577840" y="731520"/>
            <a:ext cx="3017520" cy="530352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"/>
          <p:cNvSpPr>
            <a:spLocks noGrp="1"/>
          </p:cNvSpPr>
          <p:nvPr/>
        </p:nvSpPr>
        <p:spPr>
          <a:xfrm>
            <a:off x="5577840" y="731520"/>
            <a:ext cx="64008" cy="530352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"/>
          <p:cNvSpPr txBox="1">
            <a:spLocks noGrp="1"/>
          </p:cNvSpPr>
          <p:nvPr/>
        </p:nvSpPr>
        <p:spPr>
          <a:xfrm>
            <a:off x="5806440" y="91440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C9A96E"/>
                </a:solidFill>
                <a:latin typeface="Segoe UI"/>
              </a:rPr>
              <a:t>WE'RE LOOKING FOR</a:t>
            </a:r>
          </a:p>
        </p:txBody>
      </p:sp>
      <p:sp>
        <p:nvSpPr>
          <p:cNvPr id="12" name="t"/>
          <p:cNvSpPr txBox="1">
            <a:spLocks noGrp="1"/>
          </p:cNvSpPr>
          <p:nvPr/>
        </p:nvSpPr>
        <p:spPr>
          <a:xfrm>
            <a:off x="5806440" y="155448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C9A96E"/>
                </a:solidFill>
                <a:latin typeface="Segoe UI"/>
              </a:rPr>
              <a:t>→  </a:t>
            </a:r>
            <a:r>
              <a:rPr lang="en-US" sz="1400" b="0" i="0" dirty="0">
                <a:solidFill>
                  <a:srgbClr val="FFFFFF"/>
                </a:solidFill>
                <a:latin typeface="Segoe UI"/>
              </a:rPr>
              <a:t>Beta community builders</a:t>
            </a:r>
          </a:p>
        </p:txBody>
      </p:sp>
      <p:sp>
        <p:nvSpPr>
          <p:cNvPr id="13" name="t"/>
          <p:cNvSpPr txBox="1">
            <a:spLocks noGrp="1"/>
          </p:cNvSpPr>
          <p:nvPr/>
        </p:nvSpPr>
        <p:spPr>
          <a:xfrm>
            <a:off x="5806440" y="219456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C9A96E"/>
                </a:solidFill>
                <a:latin typeface="Segoe UI"/>
              </a:rPr>
              <a:t>→  </a:t>
            </a:r>
            <a:r>
              <a:rPr lang="en-US" sz="1400" b="0" i="0" dirty="0">
                <a:solidFill>
                  <a:srgbClr val="FFFFFF"/>
                </a:solidFill>
                <a:latin typeface="Segoe UI"/>
              </a:rPr>
              <a:t>Astrology / wellness brands</a:t>
            </a:r>
          </a:p>
        </p:txBody>
      </p:sp>
      <p:sp>
        <p:nvSpPr>
          <p:cNvPr id="14" name="t"/>
          <p:cNvSpPr txBox="1">
            <a:spLocks noGrp="1"/>
          </p:cNvSpPr>
          <p:nvPr/>
        </p:nvSpPr>
        <p:spPr>
          <a:xfrm>
            <a:off x="5806440" y="283464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C9A96E"/>
                </a:solidFill>
                <a:latin typeface="Segoe UI"/>
              </a:rPr>
              <a:t>→  </a:t>
            </a:r>
            <a:r>
              <a:rPr lang="en-US" sz="1400" b="0" i="0" dirty="0">
                <a:solidFill>
                  <a:srgbClr val="FFFFFF"/>
                </a:solidFill>
                <a:latin typeface="Segoe UI"/>
              </a:rPr>
              <a:t>Strategic distribution partners</a:t>
            </a:r>
          </a:p>
        </p:txBody>
      </p:sp>
      <p:sp>
        <p:nvSpPr>
          <p:cNvPr id="15" name="t"/>
          <p:cNvSpPr txBox="1">
            <a:spLocks noGrp="1"/>
          </p:cNvSpPr>
          <p:nvPr/>
        </p:nvSpPr>
        <p:spPr>
          <a:xfrm>
            <a:off x="5806440" y="347472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wrap="sq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C9A96E"/>
                </a:solidFill>
                <a:latin typeface="Segoe UI"/>
              </a:rPr>
              <a:t>→  </a:t>
            </a:r>
            <a:r>
              <a:rPr lang="en-US" sz="1400" b="0" i="0" dirty="0">
                <a:solidFill>
                  <a:srgbClr val="FFFFFF"/>
                </a:solidFill>
                <a:latin typeface="Segoe UI"/>
              </a:rPr>
              <a:t>Advisors in AI or social</a:t>
            </a:r>
          </a:p>
        </p:txBody>
      </p:sp>
      <p:sp>
        <p:nvSpPr>
          <p:cNvPr id="16" name="s"/>
          <p:cNvSpPr>
            <a:spLocks noGrp="1"/>
          </p:cNvSpPr>
          <p:nvPr/>
        </p:nvSpPr>
        <p:spPr>
          <a:xfrm>
            <a:off x="5577840" y="4846320"/>
            <a:ext cx="3017520" cy="1005840"/>
          </a:xfrm>
          <a:prstGeom prst="rect">
            <a:avLst/>
          </a:prstGeom>
          <a:solidFill>
            <a:srgbClr val="5A3D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"/>
          <p:cNvSpPr txBox="1">
            <a:spLocks noGrp="1"/>
          </p:cNvSpPr>
          <p:nvPr/>
        </p:nvSpPr>
        <p:spPr>
          <a:xfrm>
            <a:off x="5715000" y="489204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" anchor="ctr">
            <a:spAutoFit/>
          </a:bodyPr>
          <a:lstStyle/>
          <a:p>
            <a:pPr algn="c"/>
            <a:r>
              <a:rPr lang="en-US" sz="1800" b="1" i="0" dirty="0">
                <a:solidFill>
                  <a:srgbClr val="FFFFFF"/>
                </a:solidFill>
                <a:latin typeface="Segoe UI"/>
              </a:rPr>
              <a:t>aurogram.app</a:t>
            </a:r>
          </a:p>
          <a:p>
            <a:pPr algn="c"/>
            <a:r>
              <a:rPr lang="en-US" sz="1200" b="0" i="0" dirty="0">
                <a:solidFill>
                  <a:srgbClr val="C9A96E"/>
                </a:solidFill>
                <a:latin typeface="Segoe UI"/>
              </a:rPr>
              <a:t>Let's build the cosmic social layer.</a:t>
            </a:r>
          </a:p>
        </p:txBody>
      </p:sp>
    </p:spTree>
  </p:cSld>
</p:sld>
</file>

<file path=ppt/theme/theme1.xml><?xml version="1.0" encoding="utf-8"?>
<a:theme xmlns:a="http://schemas.openxmlformats.org/drawingml/2006/main" name="Aurogram">
  <a:themeElements>
    <a:clrScheme name="Aurogram">
      <a:dk1>
        <a:srgbClr val="080C14"/>
      </a:dk1>
      <a:lt1>
        <a:srgbClr val="FFFFFF"/>
      </a:lt1>
      <a:dk2>
        <a:srgbClr val="0D1420"/>
      </a:dk2>
      <a:lt2>
        <a:srgbClr val="E8EDF5"/>
      </a:lt2>
      <a:accent1>
        <a:srgbClr val="C9A96E"/>
      </a:accent1>
      <a:accent2>
        <a:srgbClr val="5A3D34"/>
      </a:accent2>
      <a:accent3>
        <a:srgbClr val="4A7FA5"/>
      </a:accent3>
      <a:accent4>
        <a:srgbClr val="4E9A6F"/>
      </a:accent4>
      <a:accent5>
        <a:srgbClr val="6B4E71"/>
      </a:accent5>
      <a:accent6>
        <a:srgbClr val="4A5568"/>
      </a:accent6>
      <a:hlink>
        <a:srgbClr val="C9A96E"/>
      </a:hlink>
      <a:folHlink>
        <a:srgbClr val="5A3D34"/>
      </a:folHlink>
    </a:clrScheme>
    <a:fontScheme name="Aurogram">
      <a:majorFont>
        <a:latin typeface="Segoe UI"/>
      </a:majorFont>
      <a:minorFont>
        <a:latin typeface="Segoe U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Aurogram</Application>
  <Slides>4</Slides>
</Properties>
</file>

<file path=docProps/core.xml><?xml version="1.0" encoding="utf-8"?>
<cp:coreProperties xmlns:cp="http://schemas.openxmlformats.org/package/2006/metadata/core-properties" xmlns:dc="http://purl.org/dc/elements/1.1/">
  <dc:title>Aurogram</dc:title>
  <dc:creator>Aurogram</dc:creator>
</cp:coreProperties>
</file>